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Intervenant 1, 0:00 à 1:00. Décor AetherCorp, variante B, une phrase de promesse, puis lancer le teaser.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Soutien de l'introduction. Trois risques, une promesse : détecter sur site sans dépendre du cloud.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Personne ne parle pendant la vidéo. On regarde le jury, pas l'écran.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Intervenant 2, 2:00 à 3:00. Le boîtier en main, puis déclencher une alerte réelle : écran en alerte, LED rouge, sirène.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Intervenants 2, 3 et 4, de 2:00 à 5:00. Cette diapo reste affichée pendant la démonstration ; on montre le vrai matériel et le vrai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Intervenant 4, 4:00 à 5:00. Vision, reconnaissance des personnes autorisées, puis le modèle prédictif sur l'historique.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Intervenant 5, 5:00 à 7:00. La chaîne de données de gauche à droite, puis les trois choix assumés, puis la phrase clé sur le fonctionnement hors ligne.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Intervenant 6, 7:00 à 9:00. Chiffrement, authentification, cloisonnement, détection. Dire les limites avant qu'on nous les demande, puis conclure.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 de la partie de l'intervenant 6, puis les six se réalignent face au jury. Questions : chacun répond sur sa partie (voir SCRIPT_ORAL.md).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spc="6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SENTINEL-X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718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7D6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sécurité à la bordure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F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 surveillance embarqué pour les centrales AetherCorp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9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Consortium d'ingénieurs Groupe 1 · Variante B · EPSI M1 · Workshop 2026-27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menace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97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F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sites critiques, isolés, où chaque seconde compte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4937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centrales AetherCorp sont des sites sensibles, souvent loin de tout réseau. Une fuite de gaz, une surchauffe ou une intrusion doivent être détectées en quelques secondes.</a:t>
            </a:r>
            <a:endParaRPr lang="en-US" sz="1600" dirty="0"/>
          </a:p>
          <a:p>
            <a:pPr algn="l" indent="0" marL="0">
              <a:lnSpc>
                <a:spcPct val="110000"/>
              </a:lnSpc>
              <a:buNone/>
            </a:pPr>
            <a:endParaRPr lang="en-US" sz="1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Attendre un serveur distant n'est pas une option : la décision doit se prendre sur place.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6634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7D6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Détecter en secondes, sur site, sans cloud.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035040" y="1783080"/>
            <a:ext cx="5605272" cy="1188720"/>
          </a:xfrm>
          <a:prstGeom prst="roundRect">
            <a:avLst>
              <a:gd name="adj" fmla="val 6154"/>
            </a:avLst>
          </a:prstGeom>
          <a:solidFill>
            <a:srgbClr val="123150"/>
          </a:solidFill>
          <a:ln w="12700">
            <a:solidFill>
              <a:srgbClr val="1C456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236208" y="1947672"/>
            <a:ext cx="5202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7D6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Gaz et fumée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236208" y="2386584"/>
            <a:ext cx="5202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AF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 MQ-2 calibré sur l'air ambiant : alerte dès une hausse anormale, deux niveaux de gravité.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35040" y="3154680"/>
            <a:ext cx="5605272" cy="1188720"/>
          </a:xfrm>
          <a:prstGeom prst="roundRect">
            <a:avLst>
              <a:gd name="adj" fmla="val 6154"/>
            </a:avLst>
          </a:prstGeom>
          <a:solidFill>
            <a:srgbClr val="123150"/>
          </a:solidFill>
          <a:ln w="12700">
            <a:solidFill>
              <a:srgbClr val="1C456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236208" y="3319272"/>
            <a:ext cx="5202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7D6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Surchauffe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236208" y="3758184"/>
            <a:ext cx="5202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AF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Température et humidité relevées toutes les 2 secondes, seuils d'attention et critiques avec hystérésis.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035040" y="4526280"/>
            <a:ext cx="5605272" cy="1188720"/>
          </a:xfrm>
          <a:prstGeom prst="roundRect">
            <a:avLst>
              <a:gd name="adj" fmla="val 6154"/>
            </a:avLst>
          </a:prstGeom>
          <a:solidFill>
            <a:srgbClr val="123150"/>
          </a:solidFill>
          <a:ln w="12700">
            <a:solidFill>
              <a:srgbClr val="1C456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236208" y="4690872"/>
            <a:ext cx="5202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7D6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Intrusion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236208" y="5129784"/>
            <a:ext cx="5202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AF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Détecteur de présence dans le boîtier et vision par caméra côté serveur, avec reconnaissance des personnes autorisées.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F9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SENTINEL-X · Consortium Groupe 1 · Variante B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0" y="640080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F9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Teaser « Sentinel Drop »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7D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Vidéo verticale · 60 secondes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490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9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de 1:00 à 2:00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boîtier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97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F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composants, imprimé en 3D au Fablab, façade gravée au laser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123150"/>
          </a:solidFill>
          <a:ln w="12700">
            <a:solidFill>
              <a:srgbClr val="1C456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49808" y="1856232"/>
            <a:ext cx="3163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7D6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ESP8266 NodeMCU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295144"/>
            <a:ext cx="316382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AF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cerveau : lit les capteurs, décide, parle en Wi-Fi au serveur.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0" y="16916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123150"/>
          </a:solidFill>
          <a:ln w="12700">
            <a:solidFill>
              <a:srgbClr val="1C456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90288" y="1856232"/>
            <a:ext cx="3163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7D6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DHT22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590288" y="2295144"/>
            <a:ext cx="316382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AF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Température et humidité, relevé toutes les 2 secondes.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0" y="16916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123150"/>
          </a:solidFill>
          <a:ln w="12700">
            <a:solidFill>
              <a:srgbClr val="1C456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430768" y="1856232"/>
            <a:ext cx="3163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7D6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MQ-2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430768" y="2295144"/>
            <a:ext cx="316382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AF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 et fumée, seuils relatifs à l'air ambiant après chauffe.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123150"/>
          </a:solidFill>
          <a:ln w="12700">
            <a:solidFill>
              <a:srgbClr val="1C456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49808" y="3456432"/>
            <a:ext cx="3163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7D6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Capteur PIR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3895344"/>
            <a:ext cx="316382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AF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Présence : toute personne dans la zone déclenche l'alerte.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89120" y="32918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123150"/>
          </a:solidFill>
          <a:ln w="12700">
            <a:solidFill>
              <a:srgbClr val="1C456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590288" y="3456432"/>
            <a:ext cx="3163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7D6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Écran OLED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590288" y="3895344"/>
            <a:ext cx="316382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AF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en direct : réseau, mesures, alertes, pages qui défilent.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0" y="32918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123150"/>
          </a:solidFill>
          <a:ln w="12700">
            <a:solidFill>
              <a:srgbClr val="1C456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430768" y="3456432"/>
            <a:ext cx="3163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7D6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LED et buzzer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430768" y="3895344"/>
            <a:ext cx="316382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AF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 nominal, rouge en alerte ; sirène mélodique commandable à distance.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5029200"/>
            <a:ext cx="11091672" cy="1097280"/>
          </a:xfrm>
          <a:prstGeom prst="roundRect">
            <a:avLst>
              <a:gd name="adj" fmla="val 6667"/>
            </a:avLst>
          </a:prstGeom>
          <a:solidFill>
            <a:srgbClr val="0E2744"/>
          </a:solidFill>
          <a:ln w="12700">
            <a:solidFill>
              <a:srgbClr val="1C456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49808" y="51389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B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Fablab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49808" y="5458968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F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Boîtier en trois pièces en PLA (Fusion 360, Creality K2 Plus) et plaque gravée au laser (Creality Falcon A1) : logo AetherCorp, consignes de sécurité, numéro de série. Un produit fini, pas une maquette.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F9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SENTINEL-X · Consortium Groupe 1 · Variante B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10241280" y="640080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F9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Démo en direct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97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F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minutes, trois preuves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3017520"/>
          </a:xfrm>
          <a:prstGeom prst="roundRect">
            <a:avLst>
              <a:gd name="adj" fmla="val 2424"/>
            </a:avLst>
          </a:prstGeom>
          <a:solidFill>
            <a:srgbClr val="123150"/>
          </a:solidFill>
          <a:ln w="12700">
            <a:solidFill>
              <a:srgbClr val="1C456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49808" y="1874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7D6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20299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boîtier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743200"/>
            <a:ext cx="3163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AF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alerte réelle, gaz ou présence.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AF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L'écran bascule en alerte, la LED passe au rouge, la sirène se déclenche.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AF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Décidé sur place, sans serveur.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0" y="1737360"/>
            <a:ext cx="3566160" cy="3017520"/>
          </a:xfrm>
          <a:prstGeom prst="roundRect">
            <a:avLst>
              <a:gd name="adj" fmla="val 2424"/>
            </a:avLst>
          </a:prstGeom>
          <a:solidFill>
            <a:srgbClr val="123150"/>
          </a:solidFill>
          <a:ln w="12700">
            <a:solidFill>
              <a:srgbClr val="1C456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90288" y="1874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7D6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5394960" y="20299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dashboard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590288" y="2743200"/>
            <a:ext cx="3163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AF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L'alerte arrive en temps réel.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AF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Mesures toutes les 5 secondes, courbes en direct.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AF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commande repart : la sirène sonne à distance.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0" y="1737360"/>
            <a:ext cx="3566160" cy="3017520"/>
          </a:xfrm>
          <a:prstGeom prst="roundRect">
            <a:avLst>
              <a:gd name="adj" fmla="val 2424"/>
            </a:avLst>
          </a:prstGeom>
          <a:solidFill>
            <a:srgbClr val="123150"/>
          </a:solidFill>
          <a:ln w="12700">
            <a:solidFill>
              <a:srgbClr val="1C456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430768" y="1874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7D6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9235440" y="20299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L'IA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430768" y="2743200"/>
            <a:ext cx="3163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AF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personne entre dans le champ : intrusion signalée au boîtier.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AF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visage enregistré : aucune alerte.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AF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visage inconnu : alerte immédiate.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0292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7F9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secours : si un capteur ne répond pas, on enchaîne sur le dashboard et on le dit calmement.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F9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SENTINEL-X · Consortium Groupe 1 · Variante B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10241280" y="640080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F9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L'intelligence embarquée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97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F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 serveur local, jamais dans le cloud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123150"/>
          </a:solidFill>
          <a:ln w="12700">
            <a:solidFill>
              <a:srgbClr val="1C456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49808" y="1901952"/>
            <a:ext cx="3163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7D6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340864"/>
            <a:ext cx="316382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AF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 détecte toute personne dans le champ de la webcam USB. Chaque détection remonte à l'API et déclenche l'alerte caméra sur le boîtier.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89120" y="173736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123150"/>
          </a:solidFill>
          <a:ln w="12700">
            <a:solidFill>
              <a:srgbClr val="1C456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90288" y="1901952"/>
            <a:ext cx="3163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7D6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Reconnaissance faciale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90288" y="2340864"/>
            <a:ext cx="316382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AF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visages enregistrés sont des personnes autorisées : aucune alerte. Un visage inconnu est un intrus : alerte immédiate.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0" y="173736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123150"/>
          </a:solidFill>
          <a:ln w="12700">
            <a:solidFill>
              <a:srgbClr val="1C456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430768" y="1901952"/>
            <a:ext cx="3163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7D6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Maintenance prédictive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430768" y="2340864"/>
            <a:ext cx="316382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AF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sur l'historique des mesures : repère une dérive lente et corrélée de température et de gaz que des seuils fixes rateraient.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0E2744"/>
          </a:solidFill>
          <a:ln w="12700">
            <a:solidFill>
              <a:srgbClr val="1C456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49808" y="4453128"/>
            <a:ext cx="3163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4B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 ms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5074920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F9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image, YOLOv8n sur processeur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89120" y="434340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0E2744"/>
          </a:solidFill>
          <a:ln w="12700">
            <a:solidFill>
              <a:srgbClr val="1C456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590288" y="4453128"/>
            <a:ext cx="3163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4B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Mo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4590288" y="5074920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F9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 vision embarqué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0" y="434340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0E2744"/>
          </a:solidFill>
          <a:ln w="12700">
            <a:solidFill>
              <a:srgbClr val="1C456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430768" y="4453128"/>
            <a:ext cx="3163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4B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s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8430768" y="5074920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F9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deux télémétries du boîtier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F9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SENTINEL-X · Consortium Groupe 1 · Variante B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10241280" y="640080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F9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97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F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chaîne simple, entièrement locale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123150"/>
          </a:solidFill>
          <a:ln w="12700">
            <a:solidFill>
              <a:srgbClr val="1C456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21792" y="192024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Boîtier ESP8266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2313432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7D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capteurs · décision locale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468880" y="2308860"/>
            <a:ext cx="365760" cy="0"/>
          </a:xfrm>
          <a:prstGeom prst="line">
            <a:avLst/>
          </a:prstGeom>
          <a:noFill/>
          <a:ln w="25400">
            <a:solidFill>
              <a:srgbClr val="27D6A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34640" y="178308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123150"/>
          </a:solidFill>
          <a:ln w="12700">
            <a:solidFill>
              <a:srgbClr val="1C456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907792" y="192024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Mosquitto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07792" y="2313432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7D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MQTTS · port 8883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2308860"/>
            <a:ext cx="365760" cy="0"/>
          </a:xfrm>
          <a:prstGeom prst="line">
            <a:avLst/>
          </a:prstGeom>
          <a:noFill/>
          <a:ln w="25400">
            <a:solidFill>
              <a:srgbClr val="27D6A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120640" y="178308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123150"/>
          </a:solidFill>
          <a:ln w="12700">
            <a:solidFill>
              <a:srgbClr val="1C456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193792" y="192024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FastAPI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193792" y="2313432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7D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· WebSocket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040880" y="2308860"/>
            <a:ext cx="365760" cy="0"/>
          </a:xfrm>
          <a:prstGeom prst="line">
            <a:avLst/>
          </a:prstGeom>
          <a:noFill/>
          <a:ln w="25400">
            <a:solidFill>
              <a:srgbClr val="27D6A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406640" y="178308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123150"/>
          </a:solidFill>
          <a:ln w="12700">
            <a:solidFill>
              <a:srgbClr val="1C456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479792" y="192024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479792" y="2313432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7D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des mesures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326880" y="2308860"/>
            <a:ext cx="365760" cy="0"/>
          </a:xfrm>
          <a:prstGeom prst="line">
            <a:avLst/>
          </a:prstGeom>
          <a:noFill/>
          <a:ln w="25400">
            <a:solidFill>
              <a:srgbClr val="27D6A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692640" y="178308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123150"/>
          </a:solidFill>
          <a:ln w="12700">
            <a:solidFill>
              <a:srgbClr val="1C456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765792" y="192024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React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765792" y="2313432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7D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· mot de passe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00600" y="3154680"/>
            <a:ext cx="2560320" cy="685800"/>
          </a:xfrm>
          <a:prstGeom prst="roundRect">
            <a:avLst>
              <a:gd name="adj" fmla="val 10667"/>
            </a:avLst>
          </a:prstGeom>
          <a:solidFill>
            <a:srgbClr val="0E2744"/>
          </a:solidFill>
          <a:ln w="12700">
            <a:solidFill>
              <a:srgbClr val="1C456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4846320" y="32004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F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IA : vision et prédictif → API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 flipV="1">
            <a:off x="6080760" y="2834640"/>
            <a:ext cx="0" cy="320040"/>
          </a:xfrm>
          <a:prstGeom prst="line">
            <a:avLst/>
          </a:prstGeom>
          <a:noFill/>
          <a:ln w="25400">
            <a:solidFill>
              <a:srgbClr val="27D6A3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48640" y="402336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123150"/>
          </a:solidFill>
          <a:ln w="12700">
            <a:solidFill>
              <a:srgbClr val="1C456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749808" y="4187952"/>
            <a:ext cx="3163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7D6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MQTT plutôt que HTTP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749808" y="4626864"/>
            <a:ext cx="316382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AF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Léger, reconnexion automatique, Last Will : le serveur sait quand le boîtier disparaît.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389120" y="402336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123150"/>
          </a:solidFill>
          <a:ln w="12700">
            <a:solidFill>
              <a:srgbClr val="1C456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4590288" y="4187952"/>
            <a:ext cx="3163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7D6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et PostgreSQL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4590288" y="4626864"/>
            <a:ext cx="316382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AF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Asynchrone pour le temps réel, validation stricte des données, API documentée automatiquement.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229600" y="402336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123150"/>
          </a:solidFill>
          <a:ln w="12700">
            <a:solidFill>
              <a:srgbClr val="1C456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8430768" y="4187952"/>
            <a:ext cx="3163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7D6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Compose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8430768" y="4626864"/>
            <a:ext cx="316382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AF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la pile démarre en une commande et tourne à l'identique sur n'importe quelle machine.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5806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7D6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Coupez internet : SENTINEL-X continue de mesurer, de décider et d'alerter.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F9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SENTINEL-X · Consortium Groupe 1 · Variante B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10241280" y="640080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F9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Sécurité de la liaison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97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F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couches, pas un seul verrou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9144000" y="457200"/>
            <a:ext cx="2496312" cy="457200"/>
          </a:xfrm>
          <a:prstGeom prst="roundRect">
            <a:avLst>
              <a:gd name="adj" fmla="val 20000"/>
            </a:avLst>
          </a:prstGeom>
          <a:solidFill>
            <a:srgbClr val="123150"/>
          </a:solidFill>
          <a:ln w="12700">
            <a:solidFill>
              <a:srgbClr val="27D6A3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D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sur TLS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108960" cy="1143000"/>
          </a:xfrm>
          <a:prstGeom prst="roundRect">
            <a:avLst>
              <a:gd name="adj" fmla="val 6400"/>
            </a:avLst>
          </a:prstGeom>
          <a:solidFill>
            <a:srgbClr val="123150"/>
          </a:solidFill>
          <a:ln w="12700">
            <a:solidFill>
              <a:srgbClr val="1C456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8470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Boîtier ESP8266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6712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D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MQTTS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414016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F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empreinte du certificat épinglée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F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identifiants hors du dépôt Git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1737360"/>
            <a:ext cx="3566160" cy="1143000"/>
          </a:xfrm>
          <a:prstGeom prst="roundRect">
            <a:avLst>
              <a:gd name="adj" fmla="val 6400"/>
            </a:avLst>
          </a:prstGeom>
          <a:solidFill>
            <a:srgbClr val="123150"/>
          </a:solidFill>
          <a:ln w="12700">
            <a:solidFill>
              <a:srgbClr val="1C456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434840" y="18470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Serveur local (Docker)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434840" y="216712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D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· API · base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434840" y="2414016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F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anonyme refusé · clé API obligatoire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F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 n'expose aucun port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595360" y="1737360"/>
            <a:ext cx="2834640" cy="1143000"/>
          </a:xfrm>
          <a:prstGeom prst="roundRect">
            <a:avLst>
              <a:gd name="adj" fmla="val 6400"/>
            </a:avLst>
          </a:prstGeom>
          <a:solidFill>
            <a:srgbClr val="123150"/>
          </a:solidFill>
          <a:ln w="12700">
            <a:solidFill>
              <a:srgbClr val="1C456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686800" y="18470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0" y="216712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D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superviseur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0" y="2414016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F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de passe nginx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F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 API injectée côté serveur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0" y="2308860"/>
            <a:ext cx="685800" cy="0"/>
          </a:xfrm>
          <a:prstGeom prst="line">
            <a:avLst/>
          </a:prstGeom>
          <a:noFill/>
          <a:ln w="25400">
            <a:solidFill>
              <a:srgbClr val="27D6A3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3383280" y="17419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909560" y="2308860"/>
            <a:ext cx="685800" cy="0"/>
          </a:xfrm>
          <a:prstGeom prst="line">
            <a:avLst/>
          </a:prstGeom>
          <a:noFill/>
          <a:ln w="25400">
            <a:solidFill>
              <a:srgbClr val="27D6A3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7635240" y="17419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 API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24612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123150"/>
          </a:solidFill>
          <a:ln w="12700">
            <a:solidFill>
              <a:srgbClr val="1C456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49808" y="3410712"/>
            <a:ext cx="2203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7D6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Chiffrement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49808" y="3849624"/>
            <a:ext cx="220370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AF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1.2 et plus de bout en bout. Trafic Wi-Fi illisible, même sur un réseau partagé.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429000" y="324612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123150"/>
          </a:solidFill>
          <a:ln w="12700">
            <a:solidFill>
              <a:srgbClr val="1C456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3630168" y="3410712"/>
            <a:ext cx="2203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7D6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Authentification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3630168" y="3849624"/>
            <a:ext cx="220370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AF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Anonyme MQTT refusé. Toute écriture sur l'API exige une clé.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309360" y="324612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123150"/>
          </a:solidFill>
          <a:ln w="12700">
            <a:solidFill>
              <a:srgbClr val="1C456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510528" y="3410712"/>
            <a:ext cx="2203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7D6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Cloisonnement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510528" y="3849624"/>
            <a:ext cx="220370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AF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sans port exposé. La clé API reste côté serveur, jamais dans le navigateur.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189720" y="324612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123150"/>
          </a:solidFill>
          <a:ln w="12700">
            <a:solidFill>
              <a:srgbClr val="1C456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9390888" y="3410712"/>
            <a:ext cx="2203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B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Détection live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390888" y="3849624"/>
            <a:ext cx="220370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AF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moniteur affiche en direct les IP inconnues, les échecs d'authentification et les scans.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4983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F9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Preuve, sans identifiants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276088"/>
            <a:ext cx="11091672" cy="457200"/>
          </a:xfrm>
          <a:prstGeom prst="rect">
            <a:avLst/>
          </a:prstGeom>
          <a:solidFill>
            <a:srgbClr val="0E2744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FC9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mosquitto_pub sans login</a:t>
            </a:r>
            <a:pPr algn="l" indent="0" marL="0">
              <a:buNone/>
            </a:pPr>
            <a:r>
              <a:rPr lang="en-US" sz="12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not authorised</a:t>
            </a:r>
            <a:pPr algn="l" indent="0" marL="0">
              <a:buNone/>
            </a:pPr>
            <a:r>
              <a:rPr lang="en-US" sz="1200" dirty="0">
                <a:solidFill>
                  <a:srgbClr val="AFC9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POST /commands sans clé</a:t>
            </a:r>
            <a:pPr algn="l" indent="0" marL="0">
              <a:buNone/>
            </a:pPr>
            <a:r>
              <a:rPr lang="en-US" sz="12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401</a:t>
            </a:r>
            <a:pPr algn="l" indent="0" marL="0">
              <a:buNone/>
            </a:pPr>
            <a:r>
              <a:rPr lang="en-US" sz="1200" dirty="0">
                <a:solidFill>
                  <a:srgbClr val="AFC9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GET / sans mot de passe</a:t>
            </a:r>
            <a:pPr algn="l" indent="0" marL="0">
              <a:buNone/>
            </a:pPr>
            <a:r>
              <a:rPr lang="en-US" sz="12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401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58704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7F9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assumées et traitées dans le plan de durcissement : dashboard en HTTP, secrets lisibles dans la flash du boîtier.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F9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SENTINEL-X · Consortium Groupe 1 · Variante B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10241280" y="640080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F9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Sentinel-X : la sécurité à la bordure.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63728" y="274320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123150"/>
          </a:solidFill>
          <a:ln w="12700">
            <a:solidFill>
              <a:srgbClr val="1C456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46608" y="2926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7D6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Embarquée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46608" y="34290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AF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décide sur site, sans cloud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404208" y="274320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123150"/>
          </a:solidFill>
          <a:ln w="12700">
            <a:solidFill>
              <a:srgbClr val="1C456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587088" y="2926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7D6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Chiffrée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587088" y="34290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AF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de bout en bout, accès authentifiés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44688" y="274320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123150"/>
          </a:solidFill>
          <a:ln w="12700">
            <a:solidFill>
              <a:srgbClr val="1C456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427568" y="2926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7D6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Fiable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427568" y="34290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AF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 hors ligne, se reconnecte seule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6634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27D6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Merci. Vos questions.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9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Consortium d'ingénieurs Groupe 1 · EPSI M1 · Workshop 2026-27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SENTINEL-X — Soutenance Groupe 1</dc:title>
  <dc:subject>PptxGenJS Presentation</dc:subject>
  <dc:creator>Consortium Groupe 1 — EPSI</dc:creator>
  <cp:lastModifiedBy>Consortium Groupe 1 — EPSI</cp:lastModifiedBy>
  <cp:revision>1</cp:revision>
  <dcterms:created xsi:type="dcterms:W3CDTF">2026-10-08T14:32:51Z</dcterms:created>
  <dcterms:modified xsi:type="dcterms:W3CDTF">2026-10-08T14:32:51Z</dcterms:modified>
</cp:coreProperties>
</file>
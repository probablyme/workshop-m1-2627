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la liaison est sûre par couches, pas par un seul verrou.
1) Chiffrement : le boîtier parle au serveur en MQTT sur TLS (1.2 sur l'ESP8266, 1.3 côté serveur). Même sur le hotspot partagé avec les autres groupes, nos mesures et nos commandes sont illisibles au sniffing. L'ESP épingle l'empreinte du certificat, donc impossible de se faire passer pour le serveur.
2) Authentification : le broker refuse l'anonyme ; toute écriture sur l'API demande une clé. Démo : un pub ou un POST sans identifiants est rejeté.
3) Cloisonnement : la base n'a aucun port ouvert, et la clé API reste côté serveur, jamais dans le navigateur.
4) Détection : pendant le pentest, watch-attacks.sh affiche en direct les connexions d'IP inconnues et les échecs d'auth.
Limites assumées : HTTP en clair sur le réseau et secrets lisibles dans la flash du boîtier ; traités dans le plan de durcissement.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3"/>
        </a:solidFill>
      </p:bgPr>
    </p:bg>
    <p:spTree>
      <p:nvGrpSpPr>
        <p:cNvPr id="1" name=""/>
        <p:cNvGrpSpPr/>
        <p:nvPr/>
      </p:nvGrpSpPr>
      <p:grpSpPr>
        <a:xfrm>
          <a:off x="0" y="0"/>
          <a:ext cx="0" cy="0"/>
          <a:chOff x="0" y="0"/>
          <a:chExt cx="0" cy="0"/>
        </a:xfrm>
      </p:grpSpPr>
      <p:sp>
        <p:nvSpPr>
          <p:cNvPr id="2" name="Text 0"/>
          <p:cNvSpPr txBox="1"/>
          <p:nvPr/>
        </p:nvSpPr>
        <p:spPr>
          <a:xfrm>
            <a:off x="548640" y="411480"/>
            <a:ext cx="8686800" cy="6400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Sécurité de la liaison</a:t>
            </a:r>
            <a:endParaRPr lang="en-US" sz="4000" dirty="0"/>
          </a:p>
        </p:txBody>
      </p:sp>
      <p:sp>
        <p:nvSpPr>
          <p:cNvPr id="3" name="Text 1"/>
          <p:cNvSpPr txBox="1"/>
          <p:nvPr/>
        </p:nvSpPr>
        <p:spPr>
          <a:xfrm>
            <a:off x="566928" y="1078992"/>
            <a:ext cx="9601200" cy="365760"/>
          </a:xfrm>
          <a:prstGeom prst="rect">
            <a:avLst/>
          </a:prstGeom>
          <a:noFill/>
          <a:ln/>
        </p:spPr>
        <p:txBody>
          <a:bodyPr wrap="square" lIns="0" tIns="0" rIns="0" bIns="0" rtlCol="0" anchor="ctr"/>
          <a:lstStyle/>
          <a:p>
            <a:pPr algn="l" indent="0" marL="0">
              <a:buNone/>
            </a:pPr>
            <a:r>
              <a:rPr lang="en-US" sz="1600" dirty="0">
                <a:solidFill>
                  <a:srgbClr val="AFC9E6"/>
                </a:solidFill>
                <a:latin typeface="Calibri" pitchFamily="34" charset="0"/>
                <a:ea typeface="Calibri" pitchFamily="34" charset="-122"/>
                <a:cs typeface="Calibri" pitchFamily="34" charset="-120"/>
              </a:rPr>
              <a:t>Du boîtier au dashboard : chiffré et authentifié de bout en bout</a:t>
            </a:r>
            <a:endParaRPr lang="en-US" sz="1600" dirty="0"/>
          </a:p>
        </p:txBody>
      </p:sp>
      <p:sp>
        <p:nvSpPr>
          <p:cNvPr id="4" name="Text 2"/>
          <p:cNvSpPr txBox="1"/>
          <p:nvPr/>
        </p:nvSpPr>
        <p:spPr>
          <a:xfrm>
            <a:off x="9144000" y="457200"/>
            <a:ext cx="2468880" cy="457200"/>
          </a:xfrm>
          <a:prstGeom prst="roundRect">
            <a:avLst>
              <a:gd name="adj" fmla="val 20000"/>
            </a:avLst>
          </a:prstGeom>
          <a:solidFill>
            <a:srgbClr val="123150"/>
          </a:solidFill>
          <a:ln w="12700">
            <a:solidFill>
              <a:srgbClr val="27D6A3"/>
            </a:solidFill>
          </a:ln>
        </p:spPr>
        <p:txBody>
          <a:bodyPr wrap="square" rtlCol="0" anchor="ctr"/>
          <a:lstStyle/>
          <a:p>
            <a:pPr algn="ctr" indent="0" marL="0">
              <a:buNone/>
            </a:pPr>
            <a:r>
              <a:rPr lang="en-US" sz="1300" b="1" dirty="0">
                <a:solidFill>
                  <a:srgbClr val="27D6A3"/>
                </a:solidFill>
                <a:latin typeface="Calibri" pitchFamily="34" charset="0"/>
                <a:ea typeface="Calibri" pitchFamily="34" charset="-122"/>
                <a:cs typeface="Calibri" pitchFamily="34" charset="-120"/>
              </a:rPr>
              <a:t>MQTT sur TLS</a:t>
            </a:r>
            <a:endParaRPr lang="en-US" sz="1300" dirty="0"/>
          </a:p>
        </p:txBody>
      </p:sp>
      <p:sp>
        <p:nvSpPr>
          <p:cNvPr id="5" name="Text 3"/>
          <p:cNvSpPr/>
          <p:nvPr/>
        </p:nvSpPr>
        <p:spPr>
          <a:xfrm>
            <a:off x="548640" y="1920240"/>
            <a:ext cx="3108960" cy="1234440"/>
          </a:xfrm>
          <a:prstGeom prst="roundRect">
            <a:avLst>
              <a:gd name="adj" fmla="val 5926"/>
            </a:avLst>
          </a:prstGeom>
          <a:solidFill>
            <a:srgbClr val="123150"/>
          </a:solidFill>
          <a:ln w="12700">
            <a:solidFill>
              <a:srgbClr val="1C456F"/>
            </a:solidFill>
          </a:ln>
          <a:effectLst>
            <a:outerShdw sx="100000" sy="100000" kx="0" ky="0" algn="bl" rotWithShape="0" blurRad="101600" dist="38100" dir="5400000">
              <a:srgbClr val="000000">
                <a:alpha val="35000"/>
              </a:srgbClr>
            </a:outerShdw>
          </a:effectLst>
        </p:spPr>
        <p:txBody>
          <a:bodyPr wrap="square" rtlCol="0" anchor="ctr"/>
          <a:lstStyle/>
          <a:p>
            <a:pPr indent="0" marL="0">
              <a:buNone/>
            </a:pPr>
            <a:endParaRPr lang="en-US" dirty="0"/>
          </a:p>
        </p:txBody>
      </p:sp>
      <p:sp>
        <p:nvSpPr>
          <p:cNvPr id="6" name="Text 4"/>
          <p:cNvSpPr txBox="1"/>
          <p:nvPr/>
        </p:nvSpPr>
        <p:spPr>
          <a:xfrm>
            <a:off x="640080" y="2039112"/>
            <a:ext cx="292608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Boîtier ESP8266</a:t>
            </a:r>
            <a:endParaRPr lang="en-US" sz="1500" dirty="0"/>
          </a:p>
        </p:txBody>
      </p:sp>
      <p:sp>
        <p:nvSpPr>
          <p:cNvPr id="7" name="Text 5"/>
          <p:cNvSpPr txBox="1"/>
          <p:nvPr/>
        </p:nvSpPr>
        <p:spPr>
          <a:xfrm>
            <a:off x="640080" y="2377440"/>
            <a:ext cx="2926080" cy="256032"/>
          </a:xfrm>
          <a:prstGeom prst="rect">
            <a:avLst/>
          </a:prstGeom>
          <a:noFill/>
          <a:ln/>
        </p:spPr>
        <p:txBody>
          <a:bodyPr wrap="square" lIns="0" tIns="0" rIns="0" bIns="0" rtlCol="0" anchor="ctr"/>
          <a:lstStyle/>
          <a:p>
            <a:pPr algn="ctr" indent="0" marL="0">
              <a:buNone/>
            </a:pPr>
            <a:r>
              <a:rPr lang="en-US" sz="1100" dirty="0">
                <a:solidFill>
                  <a:srgbClr val="27D6A3"/>
                </a:solidFill>
                <a:latin typeface="Calibri" pitchFamily="34" charset="0"/>
                <a:ea typeface="Calibri" pitchFamily="34" charset="-122"/>
                <a:cs typeface="Calibri" pitchFamily="34" charset="-120"/>
              </a:rPr>
              <a:t>client MQTTS</a:t>
            </a:r>
            <a:endParaRPr lang="en-US" sz="1100" dirty="0"/>
          </a:p>
        </p:txBody>
      </p:sp>
      <p:sp>
        <p:nvSpPr>
          <p:cNvPr id="8" name="Text 6"/>
          <p:cNvSpPr txBox="1"/>
          <p:nvPr/>
        </p:nvSpPr>
        <p:spPr>
          <a:xfrm>
            <a:off x="640080" y="2633472"/>
            <a:ext cx="2926080" cy="457200"/>
          </a:xfrm>
          <a:prstGeom prst="rect">
            <a:avLst/>
          </a:prstGeom>
          <a:noFill/>
          <a:ln/>
        </p:spPr>
        <p:txBody>
          <a:bodyPr wrap="square" lIns="0" tIns="0" rIns="0" bIns="0" rtlCol="0" anchor="ctr"/>
          <a:lstStyle/>
          <a:p>
            <a:pPr algn="ctr" indent="0" marL="0">
              <a:buNone/>
            </a:pPr>
            <a:r>
              <a:rPr lang="en-US" sz="1050" dirty="0">
                <a:solidFill>
                  <a:srgbClr val="AFC9E6"/>
                </a:solidFill>
                <a:latin typeface="Calibri" pitchFamily="34" charset="0"/>
                <a:ea typeface="Calibri" pitchFamily="34" charset="-122"/>
                <a:cs typeface="Calibri" pitchFamily="34" charset="-120"/>
              </a:rPr>
              <a:t>Capteurs temp · gaz · présence</a:t>
            </a:r>
            <a:endParaRPr lang="en-US" sz="1050" dirty="0"/>
          </a:p>
          <a:p>
            <a:pPr algn="ctr" indent="0" marL="0">
              <a:buNone/>
            </a:pPr>
            <a:r>
              <a:rPr lang="en-US" sz="1050" dirty="0">
                <a:solidFill>
                  <a:srgbClr val="AFC9E6"/>
                </a:solidFill>
                <a:latin typeface="Calibri" pitchFamily="34" charset="0"/>
                <a:ea typeface="Calibri" pitchFamily="34" charset="-122"/>
                <a:cs typeface="Calibri" pitchFamily="34" charset="-120"/>
              </a:rPr>
              <a:t>empreinte du certificat épinglée</a:t>
            </a:r>
            <a:endParaRPr lang="en-US" sz="1050" dirty="0"/>
          </a:p>
        </p:txBody>
      </p:sp>
      <p:sp>
        <p:nvSpPr>
          <p:cNvPr id="9" name="Text 7"/>
          <p:cNvSpPr/>
          <p:nvPr/>
        </p:nvSpPr>
        <p:spPr>
          <a:xfrm>
            <a:off x="4343400" y="1920240"/>
            <a:ext cx="3566160" cy="1234440"/>
          </a:xfrm>
          <a:prstGeom prst="roundRect">
            <a:avLst>
              <a:gd name="adj" fmla="val 5926"/>
            </a:avLst>
          </a:prstGeom>
          <a:solidFill>
            <a:srgbClr val="123150"/>
          </a:solidFill>
          <a:ln w="12700">
            <a:solidFill>
              <a:srgbClr val="1C456F"/>
            </a:solidFill>
          </a:ln>
          <a:effectLst>
            <a:outerShdw sx="100000" sy="100000" kx="0" ky="0" algn="bl" rotWithShape="0" blurRad="101600" dist="38100" dir="5400000">
              <a:srgbClr val="000000">
                <a:alpha val="35000"/>
              </a:srgbClr>
            </a:outerShdw>
          </a:effectLst>
        </p:spPr>
        <p:txBody>
          <a:bodyPr wrap="square" rtlCol="0" anchor="ctr"/>
          <a:lstStyle/>
          <a:p>
            <a:pPr indent="0" marL="0">
              <a:buNone/>
            </a:pPr>
            <a:endParaRPr lang="en-US" dirty="0"/>
          </a:p>
        </p:txBody>
      </p:sp>
      <p:sp>
        <p:nvSpPr>
          <p:cNvPr id="10" name="Text 8"/>
          <p:cNvSpPr txBox="1"/>
          <p:nvPr/>
        </p:nvSpPr>
        <p:spPr>
          <a:xfrm>
            <a:off x="4434840" y="2039112"/>
            <a:ext cx="338328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Serveur local (Docker)</a:t>
            </a:r>
            <a:endParaRPr lang="en-US" sz="1500" dirty="0"/>
          </a:p>
        </p:txBody>
      </p:sp>
      <p:sp>
        <p:nvSpPr>
          <p:cNvPr id="11" name="Text 9"/>
          <p:cNvSpPr txBox="1"/>
          <p:nvPr/>
        </p:nvSpPr>
        <p:spPr>
          <a:xfrm>
            <a:off x="4434840" y="2377440"/>
            <a:ext cx="3383280" cy="256032"/>
          </a:xfrm>
          <a:prstGeom prst="rect">
            <a:avLst/>
          </a:prstGeom>
          <a:noFill/>
          <a:ln/>
        </p:spPr>
        <p:txBody>
          <a:bodyPr wrap="square" lIns="0" tIns="0" rIns="0" bIns="0" rtlCol="0" anchor="ctr"/>
          <a:lstStyle/>
          <a:p>
            <a:pPr algn="ctr" indent="0" marL="0">
              <a:buNone/>
            </a:pPr>
            <a:r>
              <a:rPr lang="en-US" sz="1100" dirty="0">
                <a:solidFill>
                  <a:srgbClr val="27D6A3"/>
                </a:solidFill>
                <a:latin typeface="Calibri" pitchFamily="34" charset="0"/>
                <a:ea typeface="Calibri" pitchFamily="34" charset="-122"/>
                <a:cs typeface="Calibri" pitchFamily="34" charset="-120"/>
              </a:rPr>
              <a:t>broker · API · base</a:t>
            </a:r>
            <a:endParaRPr lang="en-US" sz="1100" dirty="0"/>
          </a:p>
        </p:txBody>
      </p:sp>
      <p:sp>
        <p:nvSpPr>
          <p:cNvPr id="12" name="Text 10"/>
          <p:cNvSpPr txBox="1"/>
          <p:nvPr/>
        </p:nvSpPr>
        <p:spPr>
          <a:xfrm>
            <a:off x="4434840" y="2633472"/>
            <a:ext cx="3383280" cy="457200"/>
          </a:xfrm>
          <a:prstGeom prst="rect">
            <a:avLst/>
          </a:prstGeom>
          <a:noFill/>
          <a:ln/>
        </p:spPr>
        <p:txBody>
          <a:bodyPr wrap="square" lIns="0" tIns="0" rIns="0" bIns="0" rtlCol="0" anchor="ctr"/>
          <a:lstStyle/>
          <a:p>
            <a:pPr algn="ctr" indent="0" marL="0">
              <a:buNone/>
            </a:pPr>
            <a:r>
              <a:rPr lang="en-US" sz="1050" dirty="0">
                <a:solidFill>
                  <a:srgbClr val="AFC9E6"/>
                </a:solidFill>
                <a:latin typeface="Calibri" pitchFamily="34" charset="0"/>
                <a:ea typeface="Calibri" pitchFamily="34" charset="-122"/>
                <a:cs typeface="Calibri" pitchFamily="34" charset="-120"/>
              </a:rPr>
              <a:t>Mosquitto 8883 · FastAPI · PostgreSQL</a:t>
            </a:r>
            <a:endParaRPr lang="en-US" sz="1050" dirty="0"/>
          </a:p>
          <a:p>
            <a:pPr algn="ctr" indent="0" marL="0">
              <a:buNone/>
            </a:pPr>
            <a:r>
              <a:rPr lang="en-US" sz="1050" dirty="0">
                <a:solidFill>
                  <a:srgbClr val="AFC9E6"/>
                </a:solidFill>
                <a:latin typeface="Calibri" pitchFamily="34" charset="0"/>
                <a:ea typeface="Calibri" pitchFamily="34" charset="-122"/>
                <a:cs typeface="Calibri" pitchFamily="34" charset="-120"/>
              </a:rPr>
              <a:t>la base n'expose aucun port</a:t>
            </a:r>
            <a:endParaRPr lang="en-US" sz="1050" dirty="0"/>
          </a:p>
        </p:txBody>
      </p:sp>
      <p:sp>
        <p:nvSpPr>
          <p:cNvPr id="13" name="Text 11"/>
          <p:cNvSpPr/>
          <p:nvPr/>
        </p:nvSpPr>
        <p:spPr>
          <a:xfrm>
            <a:off x="8595360" y="1920240"/>
            <a:ext cx="2834640" cy="1234440"/>
          </a:xfrm>
          <a:prstGeom prst="roundRect">
            <a:avLst>
              <a:gd name="adj" fmla="val 5926"/>
            </a:avLst>
          </a:prstGeom>
          <a:solidFill>
            <a:srgbClr val="123150"/>
          </a:solidFill>
          <a:ln w="12700">
            <a:solidFill>
              <a:srgbClr val="1C456F"/>
            </a:solidFill>
          </a:ln>
          <a:effectLst>
            <a:outerShdw sx="100000" sy="100000" kx="0" ky="0" algn="bl" rotWithShape="0" blurRad="101600" dist="38100" dir="5400000">
              <a:srgbClr val="000000">
                <a:alpha val="35000"/>
              </a:srgbClr>
            </a:outerShdw>
          </a:effectLst>
        </p:spPr>
        <p:txBody>
          <a:bodyPr wrap="square" rtlCol="0" anchor="ctr"/>
          <a:lstStyle/>
          <a:p>
            <a:pPr indent="0" marL="0">
              <a:buNone/>
            </a:pPr>
            <a:endParaRPr lang="en-US" dirty="0"/>
          </a:p>
        </p:txBody>
      </p:sp>
      <p:sp>
        <p:nvSpPr>
          <p:cNvPr id="14" name="Text 12"/>
          <p:cNvSpPr txBox="1"/>
          <p:nvPr/>
        </p:nvSpPr>
        <p:spPr>
          <a:xfrm>
            <a:off x="8686800" y="2039112"/>
            <a:ext cx="265176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Dashboard</a:t>
            </a:r>
            <a:endParaRPr lang="en-US" sz="1500" dirty="0"/>
          </a:p>
        </p:txBody>
      </p:sp>
      <p:sp>
        <p:nvSpPr>
          <p:cNvPr id="15" name="Text 13"/>
          <p:cNvSpPr txBox="1"/>
          <p:nvPr/>
        </p:nvSpPr>
        <p:spPr>
          <a:xfrm>
            <a:off x="8686800" y="2377440"/>
            <a:ext cx="2651760" cy="256032"/>
          </a:xfrm>
          <a:prstGeom prst="rect">
            <a:avLst/>
          </a:prstGeom>
          <a:noFill/>
          <a:ln/>
        </p:spPr>
        <p:txBody>
          <a:bodyPr wrap="square" lIns="0" tIns="0" rIns="0" bIns="0" rtlCol="0" anchor="ctr"/>
          <a:lstStyle/>
          <a:p>
            <a:pPr algn="ctr" indent="0" marL="0">
              <a:buNone/>
            </a:pPr>
            <a:r>
              <a:rPr lang="en-US" sz="1100" dirty="0">
                <a:solidFill>
                  <a:srgbClr val="27D6A3"/>
                </a:solidFill>
                <a:latin typeface="Calibri" pitchFamily="34" charset="0"/>
                <a:ea typeface="Calibri" pitchFamily="34" charset="-122"/>
                <a:cs typeface="Calibri" pitchFamily="34" charset="-120"/>
              </a:rPr>
              <a:t>accès superviseur</a:t>
            </a:r>
            <a:endParaRPr lang="en-US" sz="1100" dirty="0"/>
          </a:p>
        </p:txBody>
      </p:sp>
      <p:sp>
        <p:nvSpPr>
          <p:cNvPr id="16" name="Text 14"/>
          <p:cNvSpPr txBox="1"/>
          <p:nvPr/>
        </p:nvSpPr>
        <p:spPr>
          <a:xfrm>
            <a:off x="8686800" y="2633472"/>
            <a:ext cx="2651760" cy="457200"/>
          </a:xfrm>
          <a:prstGeom prst="rect">
            <a:avLst/>
          </a:prstGeom>
          <a:noFill/>
          <a:ln/>
        </p:spPr>
        <p:txBody>
          <a:bodyPr wrap="square" lIns="0" tIns="0" rIns="0" bIns="0" rtlCol="0" anchor="ctr"/>
          <a:lstStyle/>
          <a:p>
            <a:pPr algn="ctr" indent="0" marL="0">
              <a:buNone/>
            </a:pPr>
            <a:r>
              <a:rPr lang="en-US" sz="1050" dirty="0">
                <a:solidFill>
                  <a:srgbClr val="AFC9E6"/>
                </a:solidFill>
                <a:latin typeface="Calibri" pitchFamily="34" charset="0"/>
                <a:ea typeface="Calibri" pitchFamily="34" charset="-122"/>
                <a:cs typeface="Calibri" pitchFamily="34" charset="-120"/>
              </a:rPr>
              <a:t>React via nginx</a:t>
            </a:r>
            <a:endParaRPr lang="en-US" sz="1050" dirty="0"/>
          </a:p>
          <a:p>
            <a:pPr algn="ctr" indent="0" marL="0">
              <a:buNone/>
            </a:pPr>
            <a:r>
              <a:rPr lang="en-US" sz="1050" dirty="0">
                <a:solidFill>
                  <a:srgbClr val="AFC9E6"/>
                </a:solidFill>
                <a:latin typeface="Calibri" pitchFamily="34" charset="0"/>
                <a:ea typeface="Calibri" pitchFamily="34" charset="-122"/>
                <a:cs typeface="Calibri" pitchFamily="34" charset="-120"/>
              </a:rPr>
              <a:t>mot de passe + clé API</a:t>
            </a:r>
            <a:endParaRPr lang="en-US" sz="1050" dirty="0"/>
          </a:p>
        </p:txBody>
      </p:sp>
      <p:sp>
        <p:nvSpPr>
          <p:cNvPr id="17" name="Shape 15"/>
          <p:cNvSpPr/>
          <p:nvPr/>
        </p:nvSpPr>
        <p:spPr>
          <a:xfrm>
            <a:off x="3657600" y="2537460"/>
            <a:ext cx="685800" cy="0"/>
          </a:xfrm>
          <a:prstGeom prst="line">
            <a:avLst/>
          </a:prstGeom>
          <a:noFill/>
          <a:ln w="25400">
            <a:solidFill>
              <a:srgbClr val="27D6A3"/>
            </a:solidFill>
            <a:prstDash val="solid"/>
            <a:tailEnd type="triangle"/>
          </a:ln>
        </p:spPr>
      </p:sp>
      <p:sp>
        <p:nvSpPr>
          <p:cNvPr id="18" name="Text 16"/>
          <p:cNvSpPr txBox="1"/>
          <p:nvPr/>
        </p:nvSpPr>
        <p:spPr>
          <a:xfrm>
            <a:off x="3429000" y="1970532"/>
            <a:ext cx="1143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TLS</a:t>
            </a:r>
            <a:endParaRPr lang="en-US" sz="1000" dirty="0"/>
          </a:p>
        </p:txBody>
      </p:sp>
      <p:sp>
        <p:nvSpPr>
          <p:cNvPr id="19" name="Shape 17"/>
          <p:cNvSpPr/>
          <p:nvPr/>
        </p:nvSpPr>
        <p:spPr>
          <a:xfrm>
            <a:off x="7909560" y="2537460"/>
            <a:ext cx="685800" cy="0"/>
          </a:xfrm>
          <a:prstGeom prst="line">
            <a:avLst/>
          </a:prstGeom>
          <a:noFill/>
          <a:ln w="25400">
            <a:solidFill>
              <a:srgbClr val="27D6A3"/>
            </a:solidFill>
            <a:prstDash val="solid"/>
            <a:tailEnd type="triangle"/>
          </a:ln>
        </p:spPr>
      </p:sp>
      <p:sp>
        <p:nvSpPr>
          <p:cNvPr id="20" name="Text 18"/>
          <p:cNvSpPr txBox="1"/>
          <p:nvPr/>
        </p:nvSpPr>
        <p:spPr>
          <a:xfrm>
            <a:off x="7680960" y="1970532"/>
            <a:ext cx="1143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clé API</a:t>
            </a:r>
            <a:endParaRPr lang="en-US" sz="1000" dirty="0"/>
          </a:p>
        </p:txBody>
      </p:sp>
      <p:sp>
        <p:nvSpPr>
          <p:cNvPr id="21" name="Text 19"/>
          <p:cNvSpPr/>
          <p:nvPr/>
        </p:nvSpPr>
        <p:spPr>
          <a:xfrm>
            <a:off x="548640" y="3566160"/>
            <a:ext cx="2606040" cy="1691640"/>
          </a:xfrm>
          <a:prstGeom prst="roundRect">
            <a:avLst>
              <a:gd name="adj" fmla="val 4324"/>
            </a:avLst>
          </a:prstGeom>
          <a:solidFill>
            <a:srgbClr val="123150"/>
          </a:solidFill>
          <a:ln w="12700">
            <a:solidFill>
              <a:srgbClr val="1C456F"/>
            </a:solidFill>
          </a:ln>
        </p:spPr>
        <p:txBody>
          <a:bodyPr wrap="square" rtlCol="0" anchor="ctr"/>
          <a:lstStyle/>
          <a:p>
            <a:pPr indent="0" marL="0">
              <a:buNone/>
            </a:pPr>
            <a:endParaRPr lang="en-US" dirty="0"/>
          </a:p>
        </p:txBody>
      </p:sp>
      <p:sp>
        <p:nvSpPr>
          <p:cNvPr id="22" name="Text 20"/>
          <p:cNvSpPr txBox="1"/>
          <p:nvPr/>
        </p:nvSpPr>
        <p:spPr>
          <a:xfrm>
            <a:off x="749808" y="3749040"/>
            <a:ext cx="2203704" cy="365760"/>
          </a:xfrm>
          <a:prstGeom prst="rect">
            <a:avLst/>
          </a:prstGeom>
          <a:noFill/>
          <a:ln/>
        </p:spPr>
        <p:txBody>
          <a:bodyPr wrap="square" lIns="0" tIns="0" rIns="0" bIns="0" rtlCol="0" anchor="ctr"/>
          <a:lstStyle/>
          <a:p>
            <a:pPr algn="l" indent="0" marL="0">
              <a:buNone/>
            </a:pPr>
            <a:r>
              <a:rPr lang="en-US" sz="1700" b="1" dirty="0">
                <a:solidFill>
                  <a:srgbClr val="27D6A3"/>
                </a:solidFill>
                <a:latin typeface="Cambria" pitchFamily="34" charset="0"/>
                <a:ea typeface="Cambria" pitchFamily="34" charset="-122"/>
                <a:cs typeface="Cambria" pitchFamily="34" charset="-120"/>
              </a:rPr>
              <a:t>Chiffrement</a:t>
            </a:r>
            <a:endParaRPr lang="en-US" sz="1700" dirty="0"/>
          </a:p>
        </p:txBody>
      </p:sp>
      <p:sp>
        <p:nvSpPr>
          <p:cNvPr id="23" name="Text 21"/>
          <p:cNvSpPr txBox="1"/>
          <p:nvPr/>
        </p:nvSpPr>
        <p:spPr>
          <a:xfrm>
            <a:off x="749808" y="4187952"/>
            <a:ext cx="2203704" cy="914400"/>
          </a:xfrm>
          <a:prstGeom prst="rect">
            <a:avLst/>
          </a:prstGeom>
          <a:noFill/>
          <a:ln/>
        </p:spPr>
        <p:txBody>
          <a:bodyPr wrap="square" lIns="0" tIns="0" rIns="0" bIns="0" rtlCol="0" anchor="t"/>
          <a:lstStyle/>
          <a:p>
            <a:pPr algn="l" indent="0" marL="0">
              <a:lnSpc>
                <a:spcPct val="105000"/>
              </a:lnSpc>
              <a:buNone/>
            </a:pPr>
            <a:r>
              <a:rPr lang="en-US" sz="1200" dirty="0">
                <a:solidFill>
                  <a:srgbClr val="AFC9E6"/>
                </a:solidFill>
                <a:latin typeface="Calibri" pitchFamily="34" charset="0"/>
                <a:ea typeface="Calibri" pitchFamily="34" charset="-122"/>
                <a:cs typeface="Calibri" pitchFamily="34" charset="-120"/>
              </a:rPr>
              <a:t>TLS 1.2 et plus de bout en bout. Trafic Wi-Fi illisible, même sur un réseau partagé.</a:t>
            </a:r>
            <a:endParaRPr lang="en-US" sz="1200" dirty="0"/>
          </a:p>
        </p:txBody>
      </p:sp>
      <p:sp>
        <p:nvSpPr>
          <p:cNvPr id="24" name="Text 22"/>
          <p:cNvSpPr/>
          <p:nvPr/>
        </p:nvSpPr>
        <p:spPr>
          <a:xfrm>
            <a:off x="3429000" y="3566160"/>
            <a:ext cx="2606040" cy="1691640"/>
          </a:xfrm>
          <a:prstGeom prst="roundRect">
            <a:avLst>
              <a:gd name="adj" fmla="val 4324"/>
            </a:avLst>
          </a:prstGeom>
          <a:solidFill>
            <a:srgbClr val="123150"/>
          </a:solidFill>
          <a:ln w="12700">
            <a:solidFill>
              <a:srgbClr val="1C456F"/>
            </a:solidFill>
          </a:ln>
        </p:spPr>
        <p:txBody>
          <a:bodyPr wrap="square" rtlCol="0" anchor="ctr"/>
          <a:lstStyle/>
          <a:p>
            <a:pPr indent="0" marL="0">
              <a:buNone/>
            </a:pPr>
            <a:endParaRPr lang="en-US" dirty="0"/>
          </a:p>
        </p:txBody>
      </p:sp>
      <p:sp>
        <p:nvSpPr>
          <p:cNvPr id="25" name="Text 23"/>
          <p:cNvSpPr txBox="1"/>
          <p:nvPr/>
        </p:nvSpPr>
        <p:spPr>
          <a:xfrm>
            <a:off x="3630168" y="3749040"/>
            <a:ext cx="2203704" cy="365760"/>
          </a:xfrm>
          <a:prstGeom prst="rect">
            <a:avLst/>
          </a:prstGeom>
          <a:noFill/>
          <a:ln/>
        </p:spPr>
        <p:txBody>
          <a:bodyPr wrap="square" lIns="0" tIns="0" rIns="0" bIns="0" rtlCol="0" anchor="ctr"/>
          <a:lstStyle/>
          <a:p>
            <a:pPr algn="l" indent="0" marL="0">
              <a:buNone/>
            </a:pPr>
            <a:r>
              <a:rPr lang="en-US" sz="1700" b="1" dirty="0">
                <a:solidFill>
                  <a:srgbClr val="27D6A3"/>
                </a:solidFill>
                <a:latin typeface="Cambria" pitchFamily="34" charset="0"/>
                <a:ea typeface="Cambria" pitchFamily="34" charset="-122"/>
                <a:cs typeface="Cambria" pitchFamily="34" charset="-120"/>
              </a:rPr>
              <a:t>Authentification</a:t>
            </a:r>
            <a:endParaRPr lang="en-US" sz="1700" dirty="0"/>
          </a:p>
        </p:txBody>
      </p:sp>
      <p:sp>
        <p:nvSpPr>
          <p:cNvPr id="26" name="Text 24"/>
          <p:cNvSpPr txBox="1"/>
          <p:nvPr/>
        </p:nvSpPr>
        <p:spPr>
          <a:xfrm>
            <a:off x="3630168" y="4187952"/>
            <a:ext cx="2203704" cy="914400"/>
          </a:xfrm>
          <a:prstGeom prst="rect">
            <a:avLst/>
          </a:prstGeom>
          <a:noFill/>
          <a:ln/>
        </p:spPr>
        <p:txBody>
          <a:bodyPr wrap="square" lIns="0" tIns="0" rIns="0" bIns="0" rtlCol="0" anchor="t"/>
          <a:lstStyle/>
          <a:p>
            <a:pPr algn="l" indent="0" marL="0">
              <a:lnSpc>
                <a:spcPct val="105000"/>
              </a:lnSpc>
              <a:buNone/>
            </a:pPr>
            <a:r>
              <a:rPr lang="en-US" sz="1200" dirty="0">
                <a:solidFill>
                  <a:srgbClr val="AFC9E6"/>
                </a:solidFill>
                <a:latin typeface="Calibri" pitchFamily="34" charset="0"/>
                <a:ea typeface="Calibri" pitchFamily="34" charset="-122"/>
                <a:cs typeface="Calibri" pitchFamily="34" charset="-120"/>
              </a:rPr>
              <a:t>Anonyme MQTT refusé. Toute écriture API exige une clé.</a:t>
            </a:r>
            <a:endParaRPr lang="en-US" sz="1200" dirty="0"/>
          </a:p>
        </p:txBody>
      </p:sp>
      <p:sp>
        <p:nvSpPr>
          <p:cNvPr id="27" name="Text 25"/>
          <p:cNvSpPr/>
          <p:nvPr/>
        </p:nvSpPr>
        <p:spPr>
          <a:xfrm>
            <a:off x="6309360" y="3566160"/>
            <a:ext cx="2606040" cy="1691640"/>
          </a:xfrm>
          <a:prstGeom prst="roundRect">
            <a:avLst>
              <a:gd name="adj" fmla="val 4324"/>
            </a:avLst>
          </a:prstGeom>
          <a:solidFill>
            <a:srgbClr val="123150"/>
          </a:solidFill>
          <a:ln w="12700">
            <a:solidFill>
              <a:srgbClr val="1C456F"/>
            </a:solidFill>
          </a:ln>
        </p:spPr>
        <p:txBody>
          <a:bodyPr wrap="square" rtlCol="0" anchor="ctr"/>
          <a:lstStyle/>
          <a:p>
            <a:pPr indent="0" marL="0">
              <a:buNone/>
            </a:pPr>
            <a:endParaRPr lang="en-US" dirty="0"/>
          </a:p>
        </p:txBody>
      </p:sp>
      <p:sp>
        <p:nvSpPr>
          <p:cNvPr id="28" name="Text 26"/>
          <p:cNvSpPr txBox="1"/>
          <p:nvPr/>
        </p:nvSpPr>
        <p:spPr>
          <a:xfrm>
            <a:off x="6510528" y="3749040"/>
            <a:ext cx="2203704" cy="365760"/>
          </a:xfrm>
          <a:prstGeom prst="rect">
            <a:avLst/>
          </a:prstGeom>
          <a:noFill/>
          <a:ln/>
        </p:spPr>
        <p:txBody>
          <a:bodyPr wrap="square" lIns="0" tIns="0" rIns="0" bIns="0" rtlCol="0" anchor="ctr"/>
          <a:lstStyle/>
          <a:p>
            <a:pPr algn="l" indent="0" marL="0">
              <a:buNone/>
            </a:pPr>
            <a:r>
              <a:rPr lang="en-US" sz="1700" b="1" dirty="0">
                <a:solidFill>
                  <a:srgbClr val="27D6A3"/>
                </a:solidFill>
                <a:latin typeface="Cambria" pitchFamily="34" charset="0"/>
                <a:ea typeface="Cambria" pitchFamily="34" charset="-122"/>
                <a:cs typeface="Cambria" pitchFamily="34" charset="-120"/>
              </a:rPr>
              <a:t>Cloisonnement</a:t>
            </a:r>
            <a:endParaRPr lang="en-US" sz="1700" dirty="0"/>
          </a:p>
        </p:txBody>
      </p:sp>
      <p:sp>
        <p:nvSpPr>
          <p:cNvPr id="29" name="Text 27"/>
          <p:cNvSpPr txBox="1"/>
          <p:nvPr/>
        </p:nvSpPr>
        <p:spPr>
          <a:xfrm>
            <a:off x="6510528" y="4187952"/>
            <a:ext cx="2203704" cy="914400"/>
          </a:xfrm>
          <a:prstGeom prst="rect">
            <a:avLst/>
          </a:prstGeom>
          <a:noFill/>
          <a:ln/>
        </p:spPr>
        <p:txBody>
          <a:bodyPr wrap="square" lIns="0" tIns="0" rIns="0" bIns="0" rtlCol="0" anchor="t"/>
          <a:lstStyle/>
          <a:p>
            <a:pPr algn="l" indent="0" marL="0">
              <a:lnSpc>
                <a:spcPct val="105000"/>
              </a:lnSpc>
              <a:buNone/>
            </a:pPr>
            <a:r>
              <a:rPr lang="en-US" sz="1200" dirty="0">
                <a:solidFill>
                  <a:srgbClr val="AFC9E6"/>
                </a:solidFill>
                <a:latin typeface="Calibri" pitchFamily="34" charset="0"/>
                <a:ea typeface="Calibri" pitchFamily="34" charset="-122"/>
                <a:cs typeface="Calibri" pitchFamily="34" charset="-120"/>
              </a:rPr>
              <a:t>Base sans port exposé. La clé API reste côté serveur, jamais dans le navigateur.</a:t>
            </a:r>
            <a:endParaRPr lang="en-US" sz="1200" dirty="0"/>
          </a:p>
        </p:txBody>
      </p:sp>
      <p:sp>
        <p:nvSpPr>
          <p:cNvPr id="30" name="Text 28"/>
          <p:cNvSpPr/>
          <p:nvPr/>
        </p:nvSpPr>
        <p:spPr>
          <a:xfrm>
            <a:off x="9189720" y="3566160"/>
            <a:ext cx="2606040" cy="1691640"/>
          </a:xfrm>
          <a:prstGeom prst="roundRect">
            <a:avLst>
              <a:gd name="adj" fmla="val 4324"/>
            </a:avLst>
          </a:prstGeom>
          <a:solidFill>
            <a:srgbClr val="123150"/>
          </a:solidFill>
          <a:ln w="12700">
            <a:solidFill>
              <a:srgbClr val="1C456F"/>
            </a:solidFill>
          </a:ln>
        </p:spPr>
        <p:txBody>
          <a:bodyPr wrap="square" rtlCol="0" anchor="ctr"/>
          <a:lstStyle/>
          <a:p>
            <a:pPr indent="0" marL="0">
              <a:buNone/>
            </a:pPr>
            <a:endParaRPr lang="en-US" dirty="0"/>
          </a:p>
        </p:txBody>
      </p:sp>
      <p:sp>
        <p:nvSpPr>
          <p:cNvPr id="31" name="Text 29"/>
          <p:cNvSpPr txBox="1"/>
          <p:nvPr/>
        </p:nvSpPr>
        <p:spPr>
          <a:xfrm>
            <a:off x="9390888" y="3749040"/>
            <a:ext cx="2203704" cy="365760"/>
          </a:xfrm>
          <a:prstGeom prst="rect">
            <a:avLst/>
          </a:prstGeom>
          <a:noFill/>
          <a:ln/>
        </p:spPr>
        <p:txBody>
          <a:bodyPr wrap="square" lIns="0" tIns="0" rIns="0" bIns="0" rtlCol="0" anchor="ctr"/>
          <a:lstStyle/>
          <a:p>
            <a:pPr algn="l" indent="0" marL="0">
              <a:buNone/>
            </a:pPr>
            <a:r>
              <a:rPr lang="en-US" sz="1700" b="1" dirty="0">
                <a:solidFill>
                  <a:srgbClr val="F4B740"/>
                </a:solidFill>
                <a:latin typeface="Cambria" pitchFamily="34" charset="0"/>
                <a:ea typeface="Cambria" pitchFamily="34" charset="-122"/>
                <a:cs typeface="Cambria" pitchFamily="34" charset="-120"/>
              </a:rPr>
              <a:t>Détection live</a:t>
            </a:r>
            <a:endParaRPr lang="en-US" sz="1700" dirty="0"/>
          </a:p>
        </p:txBody>
      </p:sp>
      <p:sp>
        <p:nvSpPr>
          <p:cNvPr id="32" name="Text 30"/>
          <p:cNvSpPr txBox="1"/>
          <p:nvPr/>
        </p:nvSpPr>
        <p:spPr>
          <a:xfrm>
            <a:off x="9390888" y="4187952"/>
            <a:ext cx="2203704" cy="914400"/>
          </a:xfrm>
          <a:prstGeom prst="rect">
            <a:avLst/>
          </a:prstGeom>
          <a:noFill/>
          <a:ln/>
        </p:spPr>
        <p:txBody>
          <a:bodyPr wrap="square" lIns="0" tIns="0" rIns="0" bIns="0" rtlCol="0" anchor="t"/>
          <a:lstStyle/>
          <a:p>
            <a:pPr algn="l" indent="0" marL="0">
              <a:lnSpc>
                <a:spcPct val="105000"/>
              </a:lnSpc>
              <a:buNone/>
            </a:pPr>
            <a:r>
              <a:rPr lang="en-US" sz="1200" dirty="0">
                <a:solidFill>
                  <a:srgbClr val="AFC9E6"/>
                </a:solidFill>
                <a:latin typeface="Calibri" pitchFamily="34" charset="0"/>
                <a:ea typeface="Calibri" pitchFamily="34" charset="-122"/>
                <a:cs typeface="Calibri" pitchFamily="34" charset="-120"/>
              </a:rPr>
              <a:t>watch-attacks.sh affiche en direct les IP inconnues, échecs d'auth et scans.</a:t>
            </a:r>
            <a:endParaRPr lang="en-US" sz="1200" dirty="0"/>
          </a:p>
        </p:txBody>
      </p:sp>
      <p:sp>
        <p:nvSpPr>
          <p:cNvPr id="33" name="Text 31"/>
          <p:cNvSpPr txBox="1"/>
          <p:nvPr/>
        </p:nvSpPr>
        <p:spPr>
          <a:xfrm>
            <a:off x="548640" y="5440680"/>
            <a:ext cx="3657600" cy="274320"/>
          </a:xfrm>
          <a:prstGeom prst="rect">
            <a:avLst/>
          </a:prstGeom>
          <a:noFill/>
          <a:ln/>
        </p:spPr>
        <p:txBody>
          <a:bodyPr wrap="square" lIns="0" tIns="0" rIns="0" bIns="0" rtlCol="0" anchor="ctr"/>
          <a:lstStyle/>
          <a:p>
            <a:pPr algn="l" indent="0" marL="0">
              <a:buNone/>
            </a:pPr>
            <a:r>
              <a:rPr lang="en-US" sz="1100" b="1" dirty="0">
                <a:solidFill>
                  <a:srgbClr val="7F9BBA"/>
                </a:solidFill>
                <a:latin typeface="Calibri" pitchFamily="34" charset="0"/>
                <a:ea typeface="Calibri" pitchFamily="34" charset="-122"/>
                <a:cs typeface="Calibri" pitchFamily="34" charset="-120"/>
              </a:rPr>
              <a:t>Preuve (sans identifiants)</a:t>
            </a:r>
            <a:endParaRPr lang="en-US" sz="1100" dirty="0"/>
          </a:p>
        </p:txBody>
      </p:sp>
      <p:sp>
        <p:nvSpPr>
          <p:cNvPr id="34" name="Text 32"/>
          <p:cNvSpPr txBox="1"/>
          <p:nvPr/>
        </p:nvSpPr>
        <p:spPr>
          <a:xfrm>
            <a:off x="548640" y="5715000"/>
            <a:ext cx="11064240" cy="457200"/>
          </a:xfrm>
          <a:prstGeom prst="rect">
            <a:avLst/>
          </a:prstGeom>
          <a:solidFill>
            <a:srgbClr val="0E2744"/>
          </a:solidFill>
          <a:ln/>
        </p:spPr>
        <p:txBody>
          <a:bodyPr wrap="square" lIns="0" tIns="0" rIns="0" bIns="0" rtlCol="0" anchor="ctr"/>
          <a:lstStyle/>
          <a:p>
            <a:pPr algn="l" indent="0" marL="0">
              <a:buNone/>
            </a:pPr>
            <a:r>
              <a:rPr lang="en-US" sz="1200" dirty="0">
                <a:solidFill>
                  <a:srgbClr val="AFC9E6"/>
                </a:solidFill>
                <a:latin typeface="Courier New" pitchFamily="34" charset="0"/>
                <a:ea typeface="Courier New" pitchFamily="34" charset="-122"/>
                <a:cs typeface="Courier New" pitchFamily="34" charset="-120"/>
              </a:rPr>
              <a:t>mosquitto_pub sans login</a:t>
            </a:r>
            <a:pPr algn="l" indent="0" marL="0">
              <a:buNone/>
            </a:pPr>
            <a:r>
              <a:rPr lang="en-US" sz="1200" b="1" dirty="0">
                <a:solidFill>
                  <a:srgbClr val="F4B740"/>
                </a:solidFill>
                <a:latin typeface="Courier New" pitchFamily="34" charset="0"/>
                <a:ea typeface="Courier New" pitchFamily="34" charset="-122"/>
                <a:cs typeface="Courier New" pitchFamily="34" charset="-120"/>
              </a:rPr>
              <a:t>  →  not authorised</a:t>
            </a:r>
            <a:pPr algn="l" indent="0" marL="0">
              <a:buNone/>
            </a:pPr>
            <a:r>
              <a:rPr lang="en-US" sz="1200" dirty="0">
                <a:solidFill>
                  <a:srgbClr val="AFC9E6"/>
                </a:solidFill>
                <a:latin typeface="Courier New" pitchFamily="34" charset="0"/>
                <a:ea typeface="Courier New" pitchFamily="34" charset="-122"/>
                <a:cs typeface="Courier New" pitchFamily="34" charset="-120"/>
              </a:rPr>
              <a:t>      POST /commands sans clé</a:t>
            </a:r>
            <a:pPr algn="l" indent="0" marL="0">
              <a:buNone/>
            </a:pPr>
            <a:r>
              <a:rPr lang="en-US" sz="1200" b="1" dirty="0">
                <a:solidFill>
                  <a:srgbClr val="F4B740"/>
                </a:solidFill>
                <a:latin typeface="Courier New" pitchFamily="34" charset="0"/>
                <a:ea typeface="Courier New" pitchFamily="34" charset="-122"/>
                <a:cs typeface="Courier New" pitchFamily="34" charset="-120"/>
              </a:rPr>
              <a:t>  →  401</a:t>
            </a:r>
            <a:pPr algn="l" indent="0" marL="0">
              <a:buNone/>
            </a:pPr>
            <a:r>
              <a:rPr lang="en-US" sz="1200" dirty="0">
                <a:solidFill>
                  <a:srgbClr val="AFC9E6"/>
                </a:solidFill>
                <a:latin typeface="Courier New" pitchFamily="34" charset="0"/>
                <a:ea typeface="Courier New" pitchFamily="34" charset="-122"/>
                <a:cs typeface="Courier New" pitchFamily="34" charset="-120"/>
              </a:rPr>
              <a:t>      GET / sans mot de passe</a:t>
            </a:r>
            <a:pPr algn="l" indent="0" marL="0">
              <a:buNone/>
            </a:pPr>
            <a:r>
              <a:rPr lang="en-US" sz="1200" b="1" dirty="0">
                <a:solidFill>
                  <a:srgbClr val="F4B740"/>
                </a:solidFill>
                <a:latin typeface="Courier New" pitchFamily="34" charset="0"/>
                <a:ea typeface="Courier New" pitchFamily="34" charset="-122"/>
                <a:cs typeface="Courier New" pitchFamily="34" charset="-120"/>
              </a:rPr>
              <a:t>  →  401</a:t>
            </a:r>
            <a:endParaRPr lang="en-US" sz="1200" dirty="0"/>
          </a:p>
        </p:txBody>
      </p:sp>
      <p:sp>
        <p:nvSpPr>
          <p:cNvPr id="35" name="Text 33"/>
          <p:cNvSpPr txBox="1"/>
          <p:nvPr/>
        </p:nvSpPr>
        <p:spPr>
          <a:xfrm>
            <a:off x="548640" y="6446520"/>
            <a:ext cx="11064240" cy="274320"/>
          </a:xfrm>
          <a:prstGeom prst="rect">
            <a:avLst/>
          </a:prstGeom>
          <a:noFill/>
          <a:ln/>
        </p:spPr>
        <p:txBody>
          <a:bodyPr wrap="square" lIns="0" tIns="0" rIns="0" bIns="0" rtlCol="0" anchor="ctr"/>
          <a:lstStyle/>
          <a:p>
            <a:pPr algn="l" indent="0" marL="0">
              <a:buNone/>
            </a:pPr>
            <a:r>
              <a:rPr lang="en-US" sz="950" dirty="0">
                <a:solidFill>
                  <a:srgbClr val="7F9BBA"/>
                </a:solidFill>
                <a:latin typeface="Calibri" pitchFamily="34" charset="0"/>
                <a:ea typeface="Calibri" pitchFamily="34" charset="-122"/>
                <a:cs typeface="Calibri" pitchFamily="34" charset="-120"/>
              </a:rPr>
              <a:t>SENTINEL-X · Groupe 1 · liaison boîtier → serveur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2026-10-08T14:33:19Z</dcterms:created>
  <dcterms:modified xsi:type="dcterms:W3CDTF">2026-10-08T14:33:19Z</dcterms:modified>
</cp:coreProperties>
</file>